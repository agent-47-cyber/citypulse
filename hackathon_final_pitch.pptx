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
            <a:ext cx="20116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77240"/>
            <a:ext cx="10728655" cy="365760"/>
          </a:xfrm>
          <a:prstGeom prst="rect">
            <a:avLst/>
          </a:prstGeom>
          <a:noFill/>
        </p:spPr>
        <p:txBody>
          <a:bodyPr wrap="none">
            <a:spAutoFit/>
          </a:bodyPr>
          <a:lstStyle/>
          <a:p>
            <a:pPr>
              <a:defRPr sz="1100" b="1">
                <a:solidFill>
                  <a:srgbClr val="38BDF8"/>
                </a:solidFill>
                <a:latin typeface="Segoe UI"/>
              </a:defRPr>
            </a:pPr>
            <a:r>
              <a:t>AMIHACKS 2026  //  PROBLEM STATEMENT 2  //  CIVIC TECH &amp; SMART DATA CORRELATION</a:t>
            </a:r>
          </a:p>
        </p:txBody>
      </p:sp>
      <p:sp>
        <p:nvSpPr>
          <p:cNvPr id="5" name="TextBox 4"/>
          <p:cNvSpPr txBox="1"/>
          <p:nvPr/>
        </p:nvSpPr>
        <p:spPr>
          <a:xfrm>
            <a:off x="731520" y="1188720"/>
            <a:ext cx="10728655" cy="1371600"/>
          </a:xfrm>
          <a:prstGeom prst="rect">
            <a:avLst/>
          </a:prstGeom>
          <a:noFill/>
        </p:spPr>
        <p:txBody>
          <a:bodyPr wrap="square">
            <a:spAutoFit/>
          </a:bodyPr>
          <a:lstStyle/>
          <a:p>
            <a:pPr>
              <a:spcAft>
                <a:spcPts val="400"/>
              </a:spcAft>
              <a:defRPr sz="5400" b="1">
                <a:solidFill>
                  <a:srgbClr val="FFFFFF"/>
                </a:solidFill>
                <a:latin typeface="Segoe UI"/>
              </a:defRPr>
            </a:pPr>
            <a:r>
              <a:t>CityPulse</a:t>
            </a:r>
          </a:p>
          <a:p>
            <a:pPr>
              <a:defRPr sz="2000" b="1">
                <a:solidFill>
                  <a:srgbClr val="38BDF8"/>
                </a:solidFill>
                <a:latin typeface="Segoe UI"/>
              </a:defRPr>
            </a:pPr>
            <a:r>
              <a:t>Real-Time Civic Signal Correlation &amp; Resident Intelligence Platform for Jaipur</a:t>
            </a:r>
          </a:p>
        </p:txBody>
      </p:sp>
      <p:sp>
        <p:nvSpPr>
          <p:cNvPr id="6" name="Rounded Rectangle 5"/>
          <p:cNvSpPr/>
          <p:nvPr/>
        </p:nvSpPr>
        <p:spPr>
          <a:xfrm>
            <a:off x="731520" y="2926080"/>
            <a:ext cx="10728655" cy="1325880"/>
          </a:xfrm>
          <a:prstGeom prst="roundRect">
            <a:avLst/>
          </a:prstGeom>
          <a:solidFill>
            <a:srgbClr val="131B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63240"/>
            <a:ext cx="10180015" cy="1051560"/>
          </a:xfrm>
          <a:prstGeom prst="rect">
            <a:avLst/>
          </a:prstGeom>
          <a:noFill/>
        </p:spPr>
        <p:txBody>
          <a:bodyPr wrap="square">
            <a:spAutoFit/>
          </a:bodyPr>
          <a:lstStyle/>
          <a:p>
            <a:pPr>
              <a:spcAft>
                <a:spcPts val="400"/>
              </a:spcAft>
              <a:defRPr sz="1000" b="1">
                <a:solidFill>
                  <a:srgbClr val="A855F7"/>
                </a:solidFill>
                <a:latin typeface="Segoe UI"/>
              </a:defRPr>
            </a:pPr>
            <a:r>
              <a:t>THE 1-SENTENCE VALUE HOOK</a:t>
            </a:r>
          </a:p>
          <a:p>
            <a:pPr>
              <a:defRPr sz="1300" i="1">
                <a:solidFill>
                  <a:srgbClr val="E2E8F0"/>
                </a:solidFill>
                <a:latin typeface="Segoe UI"/>
              </a:defRPr>
            </a:pPr>
            <a:r>
              <a:t>“CityPulse ingests fragmented weather, air quality, transit, and citizen reports, normalizes them into unified CityEvents, and uses a rolling 30-minute spatio-temporal engine to detect unusual civic spikes and cautious 'Possible Links' — completely avoiding false causation and hallucinated panic.”</a:t>
            </a:r>
          </a:p>
        </p:txBody>
      </p:sp>
      <p:sp>
        <p:nvSpPr>
          <p:cNvPr id="8" name="Rounded Rectangle 7"/>
          <p:cNvSpPr/>
          <p:nvPr/>
        </p:nvSpPr>
        <p:spPr>
          <a:xfrm>
            <a:off x="731520" y="4480560"/>
            <a:ext cx="3337560" cy="173736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617720"/>
            <a:ext cx="2971800" cy="1463040"/>
          </a:xfrm>
          <a:prstGeom prst="rect">
            <a:avLst/>
          </a:prstGeom>
          <a:noFill/>
        </p:spPr>
        <p:txBody>
          <a:bodyPr wrap="square">
            <a:spAutoFit/>
          </a:bodyPr>
          <a:lstStyle/>
          <a:p>
            <a:pPr>
              <a:spcAft>
                <a:spcPts val="400"/>
              </a:spcAft>
              <a:defRPr sz="1000" b="1">
                <a:solidFill>
                  <a:srgbClr val="10B981"/>
                </a:solidFill>
                <a:latin typeface="Segoe UI"/>
              </a:defRPr>
            </a:pPr>
            <a:r>
              <a:t>DEPLOYED APPLICATION</a:t>
            </a:r>
          </a:p>
          <a:p>
            <a:pPr>
              <a:spcAft>
                <a:spcPts val="400"/>
              </a:spcAft>
              <a:defRPr sz="1300" b="1">
                <a:solidFill>
                  <a:srgbClr val="FFFFFF"/>
                </a:solidFill>
                <a:latin typeface="Segoe UI"/>
              </a:defRPr>
            </a:pPr>
            <a:r>
              <a:t>citypulse-iota-bice.vercel.app</a:t>
            </a:r>
          </a:p>
          <a:p>
            <a:pPr>
              <a:defRPr sz="1050">
                <a:solidFill>
                  <a:srgbClr val="94A3B8"/>
                </a:solidFill>
                <a:latin typeface="Segoe UI"/>
              </a:defRPr>
            </a:pPr>
            <a:r>
              <a:t>Live Next.js 15 on Vercel Edge with live Open-Meteo APIs for 5 Jaipur zones.</a:t>
            </a:r>
          </a:p>
        </p:txBody>
      </p:sp>
      <p:sp>
        <p:nvSpPr>
          <p:cNvPr id="10" name="Rounded Rectangle 9"/>
          <p:cNvSpPr/>
          <p:nvPr/>
        </p:nvSpPr>
        <p:spPr>
          <a:xfrm>
            <a:off x="4425696" y="4480560"/>
            <a:ext cx="3337560" cy="173736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4617720"/>
            <a:ext cx="2971800" cy="1463040"/>
          </a:xfrm>
          <a:prstGeom prst="rect">
            <a:avLst/>
          </a:prstGeom>
          <a:noFill/>
        </p:spPr>
        <p:txBody>
          <a:bodyPr wrap="square">
            <a:spAutoFit/>
          </a:bodyPr>
          <a:lstStyle/>
          <a:p>
            <a:pPr>
              <a:spcAft>
                <a:spcPts val="400"/>
              </a:spcAft>
              <a:defRPr sz="1000" b="1">
                <a:solidFill>
                  <a:srgbClr val="38BDF8"/>
                </a:solidFill>
                <a:latin typeface="Segoe UI"/>
              </a:defRPr>
            </a:pPr>
            <a:r>
              <a:t>ENGINEERING HIGHLIGHTS</a:t>
            </a:r>
          </a:p>
          <a:p>
            <a:pPr>
              <a:spcAft>
                <a:spcPts val="400"/>
              </a:spcAft>
              <a:defRPr sz="1300" b="1">
                <a:solidFill>
                  <a:srgbClr val="FFFFFF"/>
                </a:solidFill>
                <a:latin typeface="Segoe UI"/>
              </a:defRPr>
            </a:pPr>
            <a:r>
              <a:t>Cross-Source Civic Correlation</a:t>
            </a:r>
          </a:p>
          <a:p>
            <a:pPr>
              <a:defRPr sz="1050">
                <a:solidFill>
                  <a:srgbClr val="94A3B8"/>
                </a:solidFill>
                <a:latin typeface="Segoe UI"/>
              </a:defRPr>
            </a:pPr>
            <a:r>
              <a:t>Rolling 30-min window, Z-Score anomaly engine, Leaflet GIS, and deterministic replay.</a:t>
            </a:r>
          </a:p>
        </p:txBody>
      </p:sp>
      <p:sp>
        <p:nvSpPr>
          <p:cNvPr id="12" name="Rounded Rectangle 11"/>
          <p:cNvSpPr/>
          <p:nvPr/>
        </p:nvSpPr>
        <p:spPr>
          <a:xfrm>
            <a:off x="8119872" y="4480560"/>
            <a:ext cx="3337560" cy="173736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617720"/>
            <a:ext cx="2971800" cy="1463040"/>
          </a:xfrm>
          <a:prstGeom prst="rect">
            <a:avLst/>
          </a:prstGeom>
          <a:noFill/>
        </p:spPr>
        <p:txBody>
          <a:bodyPr wrap="square">
            <a:spAutoFit/>
          </a:bodyPr>
          <a:lstStyle/>
          <a:p>
            <a:pPr>
              <a:spcAft>
                <a:spcPts val="400"/>
              </a:spcAft>
              <a:defRPr sz="1000" b="1">
                <a:solidFill>
                  <a:srgbClr val="A855F7"/>
                </a:solidFill>
                <a:latin typeface="Segoe UI"/>
              </a:defRPr>
            </a:pPr>
            <a:r>
              <a:t>HACKATHON TEAM</a:t>
            </a:r>
          </a:p>
          <a:p>
            <a:pPr>
              <a:spcAft>
                <a:spcPts val="400"/>
              </a:spcAft>
              <a:defRPr sz="1300" b="1">
                <a:solidFill>
                  <a:srgbClr val="FFFFFF"/>
                </a:solidFill>
                <a:latin typeface="Segoe UI"/>
              </a:defRPr>
            </a:pPr>
            <a:r>
              <a:t>[Team CityPulse Elite]</a:t>
            </a:r>
          </a:p>
          <a:p>
            <a:pPr>
              <a:defRPr sz="1050">
                <a:solidFill>
                  <a:srgbClr val="94A3B8"/>
                </a:solidFill>
                <a:latin typeface="Segoe UI"/>
              </a:defRPr>
            </a:pPr>
            <a:r>
              <a:t>AmiHacks Round 1 &amp; Round 2 Finalist</a:t>
            </a:r>
            <a:br/>
            <a:r>
              <a:t>Format: 7-min Demo + 3-min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01 // PROBLEM STATEMENT</a:t>
            </a:r>
          </a:p>
          <a:p>
            <a:pPr>
              <a:spcAft>
                <a:spcPts val="200"/>
              </a:spcAft>
              <a:defRPr sz="2400" b="1">
                <a:solidFill>
                  <a:srgbClr val="FFFFFF"/>
                </a:solidFill>
                <a:latin typeface="Segoe UI"/>
              </a:defRPr>
            </a:pPr>
            <a:r>
              <a:t>Civic Data is Fragmented, Incoherent, and Unactionable</a:t>
            </a:r>
          </a:p>
          <a:p>
            <a:pPr>
              <a:defRPr sz="1150">
                <a:solidFill>
                  <a:srgbClr val="94A3B8"/>
                </a:solidFill>
                <a:latin typeface="Segoe UI"/>
              </a:defRPr>
            </a:pPr>
            <a:r>
              <a:t>Directly mapping to the 'Impact &amp; Need' judging rubric — why isolated smart city feeds fail citizens.</a:t>
            </a:r>
          </a:p>
        </p:txBody>
      </p:sp>
      <p:sp>
        <p:nvSpPr>
          <p:cNvPr id="4" name="Rounded Rectangle 3"/>
          <p:cNvSpPr/>
          <p:nvPr/>
        </p:nvSpPr>
        <p:spPr>
          <a:xfrm>
            <a:off x="731520" y="1783080"/>
            <a:ext cx="33375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971800" cy="4206240"/>
          </a:xfrm>
          <a:prstGeom prst="rect">
            <a:avLst/>
          </a:prstGeom>
          <a:noFill/>
        </p:spPr>
        <p:txBody>
          <a:bodyPr wrap="square">
            <a:spAutoFit/>
          </a:bodyPr>
          <a:lstStyle/>
          <a:p>
            <a:pPr>
              <a:spcAft>
                <a:spcPts val="600"/>
              </a:spcAft>
              <a:defRPr sz="1050" b="1">
                <a:solidFill>
                  <a:srgbClr val="EF4444"/>
                </a:solidFill>
                <a:latin typeface="Segoe UI"/>
              </a:defRPr>
            </a:pPr>
            <a:r>
              <a:t>PAIN POINT 01</a:t>
            </a:r>
          </a:p>
          <a:p>
            <a:pPr>
              <a:spcAft>
                <a:spcPts val="1200"/>
              </a:spcAft>
              <a:defRPr sz="1600" b="1">
                <a:solidFill>
                  <a:srgbClr val="FFFFFF"/>
                </a:solidFill>
                <a:latin typeface="Segoe UI"/>
              </a:defRPr>
            </a:pPr>
            <a:r>
              <a:t>Siloed, Disconnected Feeds</a:t>
            </a:r>
          </a:p>
          <a:p>
            <a:pPr>
              <a:spcAft>
                <a:spcPts val="800"/>
              </a:spcAft>
              <a:defRPr sz="1100" b="1">
                <a:solidFill>
                  <a:srgbClr val="38BDF8"/>
                </a:solidFill>
                <a:latin typeface="Segoe UI"/>
              </a:defRPr>
            </a:pPr>
            <a:r>
              <a:t>• Information Blindspots: </a:t>
            </a:r>
            <a:r>
              <a:rPr b="0">
                <a:solidFill>
                  <a:srgbClr val="E2E8F0"/>
                </a:solidFill>
              </a:rPr>
              <a:t>Weather apps report rainfall; municipal boards report road repairs; transit apps report bus delays; citizen portals log drainage clogs. None talk to each other.</a:t>
            </a:r>
          </a:p>
          <a:p>
            <a:pPr>
              <a:spcAft>
                <a:spcPts val="800"/>
              </a:spcAft>
              <a:defRPr sz="1100" b="1">
                <a:solidFill>
                  <a:srgbClr val="38BDF8"/>
                </a:solidFill>
                <a:latin typeface="Segoe UI"/>
              </a:defRPr>
            </a:pPr>
            <a:r>
              <a:t>• Cognitive Overload: </a:t>
            </a:r>
            <a:r>
              <a:rPr b="0">
                <a:solidFill>
                  <a:srgbClr val="E2E8F0"/>
                </a:solidFill>
              </a:rPr>
              <a:t>Residents must manually cross-examine 4+ different services to decide whether it is safe to commute or leave home.</a:t>
            </a:r>
          </a:p>
          <a:p>
            <a:pPr>
              <a:spcAft>
                <a:spcPts val="800"/>
              </a:spcAft>
              <a:defRPr sz="1100" b="1">
                <a:solidFill>
                  <a:srgbClr val="38BDF8"/>
                </a:solidFill>
                <a:latin typeface="Segoe UI"/>
              </a:defRPr>
            </a:pPr>
            <a:r>
              <a:t>• Mismatched Data Models: </a:t>
            </a:r>
            <a:r>
              <a:rPr b="0">
                <a:solidFill>
                  <a:srgbClr val="E2E8F0"/>
                </a:solidFill>
              </a:rPr>
              <a:t>Raw APIs use incompatible timestamps, coordinates, schemas, and proprietary units.</a:t>
            </a:r>
          </a:p>
        </p:txBody>
      </p:sp>
      <p:sp>
        <p:nvSpPr>
          <p:cNvPr id="6" name="Rounded Rectangle 5"/>
          <p:cNvSpPr/>
          <p:nvPr/>
        </p:nvSpPr>
        <p:spPr>
          <a:xfrm>
            <a:off x="4425696" y="1783080"/>
            <a:ext cx="33375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965960"/>
            <a:ext cx="2971800" cy="4206240"/>
          </a:xfrm>
          <a:prstGeom prst="rect">
            <a:avLst/>
          </a:prstGeom>
          <a:noFill/>
        </p:spPr>
        <p:txBody>
          <a:bodyPr wrap="square">
            <a:spAutoFit/>
          </a:bodyPr>
          <a:lstStyle/>
          <a:p>
            <a:pPr>
              <a:spcAft>
                <a:spcPts val="600"/>
              </a:spcAft>
              <a:defRPr sz="1050" b="1">
                <a:solidFill>
                  <a:srgbClr val="F59E0B"/>
                </a:solidFill>
                <a:latin typeface="Segoe UI"/>
              </a:defRPr>
            </a:pPr>
            <a:r>
              <a:t>PAIN POINT 02</a:t>
            </a:r>
          </a:p>
          <a:p>
            <a:pPr>
              <a:spcAft>
                <a:spcPts val="1200"/>
              </a:spcAft>
              <a:defRPr sz="1600" b="1">
                <a:solidFill>
                  <a:srgbClr val="FFFFFF"/>
                </a:solidFill>
                <a:latin typeface="Segoe UI"/>
              </a:defRPr>
            </a:pPr>
            <a:r>
              <a:t>No Spatial or Temporal Context</a:t>
            </a:r>
          </a:p>
          <a:p>
            <a:pPr>
              <a:spcAft>
                <a:spcPts val="800"/>
              </a:spcAft>
              <a:defRPr sz="1100" b="1">
                <a:solidFill>
                  <a:srgbClr val="38BDF8"/>
                </a:solidFill>
                <a:latin typeface="Segoe UI"/>
              </a:defRPr>
            </a:pPr>
            <a:r>
              <a:t>• Raw Sensor Dumps: </a:t>
            </a:r>
            <a:r>
              <a:rPr b="0">
                <a:solidFill>
                  <a:srgbClr val="E2E8F0"/>
                </a:solidFill>
              </a:rPr>
              <a:t>Traditional civic dashboards just display raw numbers (e.g., '14 mm rain' or 'AQI 162') without answering: What does this mean for my neighborhood right now?</a:t>
            </a:r>
          </a:p>
          <a:p>
            <a:pPr>
              <a:spcAft>
                <a:spcPts val="800"/>
              </a:spcAft>
              <a:defRPr sz="1100" b="1">
                <a:solidFill>
                  <a:srgbClr val="38BDF8"/>
                </a:solidFill>
                <a:latin typeface="Segoe UI"/>
              </a:defRPr>
            </a:pPr>
            <a:r>
              <a:t>• Lack of Rolling Windows: </a:t>
            </a:r>
            <a:r>
              <a:rPr b="0">
                <a:solidFill>
                  <a:srgbClr val="E2E8F0"/>
                </a:solidFill>
              </a:rPr>
              <a:t>Static charts fail to capture sudden 30-minute escalation spikes vs. routine seasonal averages.</a:t>
            </a:r>
          </a:p>
          <a:p>
            <a:pPr>
              <a:spcAft>
                <a:spcPts val="800"/>
              </a:spcAft>
              <a:defRPr sz="1100" b="1">
                <a:solidFill>
                  <a:srgbClr val="38BDF8"/>
                </a:solidFill>
                <a:latin typeface="Segoe UI"/>
              </a:defRPr>
            </a:pPr>
            <a:r>
              <a:t>• No Spatio-Temporal Join: </a:t>
            </a:r>
            <a:r>
              <a:rPr b="0">
                <a:solidFill>
                  <a:srgbClr val="E2E8F0"/>
                </a:solidFill>
              </a:rPr>
              <a:t>A rain spike in Vaishali Nagar combined with a transit halt 15 km away in Jagatpura is noise, but in the same zone it's a critical incident.</a:t>
            </a:r>
          </a:p>
        </p:txBody>
      </p:sp>
      <p:sp>
        <p:nvSpPr>
          <p:cNvPr id="8" name="Rounded Rectangle 7"/>
          <p:cNvSpPr/>
          <p:nvPr/>
        </p:nvSpPr>
        <p:spPr>
          <a:xfrm>
            <a:off x="8119872" y="1783080"/>
            <a:ext cx="33375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965960"/>
            <a:ext cx="2971800" cy="4206240"/>
          </a:xfrm>
          <a:prstGeom prst="rect">
            <a:avLst/>
          </a:prstGeom>
          <a:noFill/>
        </p:spPr>
        <p:txBody>
          <a:bodyPr wrap="square">
            <a:spAutoFit/>
          </a:bodyPr>
          <a:lstStyle/>
          <a:p>
            <a:pPr>
              <a:spcAft>
                <a:spcPts val="600"/>
              </a:spcAft>
              <a:defRPr sz="1050" b="1">
                <a:solidFill>
                  <a:srgbClr val="A855F7"/>
                </a:solidFill>
                <a:latin typeface="Segoe UI"/>
              </a:defRPr>
            </a:pPr>
            <a:r>
              <a:t>PAIN POINT 03</a:t>
            </a:r>
          </a:p>
          <a:p>
            <a:pPr>
              <a:spcAft>
                <a:spcPts val="1200"/>
              </a:spcAft>
              <a:defRPr sz="1600" b="1">
                <a:solidFill>
                  <a:srgbClr val="FFFFFF"/>
                </a:solidFill>
                <a:latin typeface="Segoe UI"/>
              </a:defRPr>
            </a:pPr>
            <a:r>
              <a:t>Hallucinations &amp; False Panic</a:t>
            </a:r>
          </a:p>
          <a:p>
            <a:pPr>
              <a:spcAft>
                <a:spcPts val="800"/>
              </a:spcAft>
              <a:defRPr sz="1100" b="1">
                <a:solidFill>
                  <a:srgbClr val="38BDF8"/>
                </a:solidFill>
                <a:latin typeface="Segoe UI"/>
              </a:defRPr>
            </a:pPr>
            <a:r>
              <a:t>• Reckless Causation Claims: </a:t>
            </a:r>
            <a:r>
              <a:rPr b="0">
                <a:solidFill>
                  <a:srgbClr val="E2E8F0"/>
                </a:solidFill>
              </a:rPr>
              <a:t>Naive AI bots claim 'Rain definitively destroyed bus engines', generating misinformation and panic among citizens.</a:t>
            </a:r>
          </a:p>
          <a:p>
            <a:pPr>
              <a:spcAft>
                <a:spcPts val="800"/>
              </a:spcAft>
              <a:defRPr sz="1100" b="1">
                <a:solidFill>
                  <a:srgbClr val="38BDF8"/>
                </a:solidFill>
                <a:latin typeface="Segoe UI"/>
              </a:defRPr>
            </a:pPr>
            <a:r>
              <a:t>• Privacy Violations: </a:t>
            </a:r>
            <a:r>
              <a:rPr b="0">
                <a:solidFill>
                  <a:srgbClr val="E2E8F0"/>
                </a:solidFill>
              </a:rPr>
              <a:t>Citizen complaints often expose sensitive names, phone numbers, or residential addresses.</a:t>
            </a:r>
          </a:p>
          <a:p>
            <a:pPr>
              <a:spcAft>
                <a:spcPts val="800"/>
              </a:spcAft>
              <a:defRPr sz="1100" b="1">
                <a:solidFill>
                  <a:srgbClr val="38BDF8"/>
                </a:solidFill>
                <a:latin typeface="Segoe UI"/>
              </a:defRPr>
            </a:pPr>
            <a:r>
              <a:t>• Fragile Architectures: </a:t>
            </a:r>
            <a:r>
              <a:rPr b="0">
                <a:solidFill>
                  <a:srgbClr val="E2E8F0"/>
                </a:solidFill>
              </a:rPr>
              <a:t>Most hackathon prototypes crash completely when a single third-party API rate-limits or times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02 // PROPOSED SOLUTION &amp; FEATURES</a:t>
            </a:r>
          </a:p>
          <a:p>
            <a:pPr>
              <a:spcAft>
                <a:spcPts val="200"/>
              </a:spcAft>
              <a:defRPr sz="2400" b="1">
                <a:solidFill>
                  <a:srgbClr val="FFFFFF"/>
                </a:solidFill>
                <a:latin typeface="Segoe UI"/>
              </a:defRPr>
            </a:pPr>
            <a:r>
              <a:t>Engineering Unified City Intelligence in Code</a:t>
            </a:r>
          </a:p>
          <a:p>
            <a:pPr>
              <a:defRPr sz="1150">
                <a:solidFill>
                  <a:srgbClr val="94A3B8"/>
                </a:solidFill>
                <a:latin typeface="Segoe UI"/>
              </a:defRPr>
            </a:pPr>
            <a:r>
              <a:t>Universal normalization, statistical anomaly detection, and cautious spatio-temporal link scoring.</a:t>
            </a:r>
          </a:p>
        </p:txBody>
      </p:sp>
      <p:sp>
        <p:nvSpPr>
          <p:cNvPr id="4" name="Rounded Rectangle 3"/>
          <p:cNvSpPr/>
          <p:nvPr/>
        </p:nvSpPr>
        <p:spPr>
          <a:xfrm>
            <a:off x="731520" y="1783080"/>
            <a:ext cx="5184648" cy="214884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4727448" cy="1874520"/>
          </a:xfrm>
          <a:prstGeom prst="rect">
            <a:avLst/>
          </a:prstGeom>
          <a:noFill/>
        </p:spPr>
        <p:txBody>
          <a:bodyPr wrap="square">
            <a:spAutoFit/>
          </a:bodyPr>
          <a:lstStyle/>
          <a:p>
            <a:pPr>
              <a:spcAft>
                <a:spcPts val="200"/>
              </a:spcAft>
              <a:defRPr sz="950" b="1">
                <a:solidFill>
                  <a:srgbClr val="38BDF8"/>
                </a:solidFill>
                <a:latin typeface="Segoe UI"/>
              </a:defRPr>
            </a:pPr>
            <a:r>
              <a:t>FEATURE 01 // DATA NORMALIZATION</a:t>
            </a:r>
          </a:p>
          <a:p>
            <a:pPr>
              <a:spcAft>
                <a:spcPts val="600"/>
              </a:spcAft>
              <a:defRPr sz="1400" b="1">
                <a:solidFill>
                  <a:srgbClr val="FFFFFF"/>
                </a:solidFill>
                <a:latin typeface="Segoe UI"/>
              </a:defRPr>
            </a:pPr>
            <a:r>
              <a:t>Unified CityEvent Schema</a:t>
            </a:r>
          </a:p>
          <a:p>
            <a:pPr>
              <a:spcAft>
                <a:spcPts val="300"/>
              </a:spcAft>
              <a:defRPr sz="1050" b="1">
                <a:solidFill>
                  <a:srgbClr val="38BDF8"/>
                </a:solidFill>
                <a:latin typeface="Segoe UI"/>
              </a:defRPr>
            </a:pPr>
            <a:r>
              <a:t>• Multi-Feed Ingestion: </a:t>
            </a:r>
            <a:r>
              <a:rPr b="0">
                <a:solidFill>
                  <a:srgbClr val="E2E8F0"/>
                </a:solidFill>
              </a:rPr>
              <a:t>Ingests Live Open-Meteo Weather, Live Open-Meteo Air Quality, Simulated Transit delays, and Local Reports.</a:t>
            </a:r>
          </a:p>
          <a:p>
            <a:pPr>
              <a:spcAft>
                <a:spcPts val="300"/>
              </a:spcAft>
              <a:defRPr sz="1050" b="1">
                <a:solidFill>
                  <a:srgbClr val="38BDF8"/>
                </a:solidFill>
                <a:latin typeface="Segoe UI"/>
              </a:defRPr>
            </a:pPr>
            <a:r>
              <a:t>• Strict Common Contract: </a:t>
            </a:r>
            <a:r>
              <a:rPr b="0">
                <a:solidFill>
                  <a:srgbClr val="E2E8F0"/>
                </a:solidFill>
              </a:rPr>
              <a:t>Normalizes every mismatched source into a validated TypeScript 'CityEvent' with ISO-8601 timestamps, GPS coordinates, severity, and raw metrics.</a:t>
            </a:r>
          </a:p>
          <a:p>
            <a:pPr>
              <a:spcAft>
                <a:spcPts val="300"/>
              </a:spcAft>
              <a:defRPr sz="1050" b="1">
                <a:solidFill>
                  <a:srgbClr val="38BDF8"/>
                </a:solidFill>
                <a:latin typeface="Segoe UI"/>
              </a:defRPr>
            </a:pPr>
            <a:r>
              <a:t>• No Frontend Coupling: </a:t>
            </a:r>
            <a:r>
              <a:rPr b="0">
                <a:solidFill>
                  <a:srgbClr val="E2E8F0"/>
                </a:solidFill>
              </a:rPr>
              <a:t>UI never touches raw API payloads; it consumes clean, standardized contracts.</a:t>
            </a:r>
          </a:p>
        </p:txBody>
      </p:sp>
      <p:sp>
        <p:nvSpPr>
          <p:cNvPr id="6" name="Rounded Rectangle 5"/>
          <p:cNvSpPr/>
          <p:nvPr/>
        </p:nvSpPr>
        <p:spPr>
          <a:xfrm>
            <a:off x="6272784" y="1783080"/>
            <a:ext cx="5184648" cy="214884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1384" y="1920240"/>
            <a:ext cx="4727448" cy="1874520"/>
          </a:xfrm>
          <a:prstGeom prst="rect">
            <a:avLst/>
          </a:prstGeom>
          <a:noFill/>
        </p:spPr>
        <p:txBody>
          <a:bodyPr wrap="square">
            <a:spAutoFit/>
          </a:bodyPr>
          <a:lstStyle/>
          <a:p>
            <a:pPr>
              <a:spcAft>
                <a:spcPts val="200"/>
              </a:spcAft>
              <a:defRPr sz="950" b="1">
                <a:solidFill>
                  <a:srgbClr val="A855F7"/>
                </a:solidFill>
                <a:latin typeface="Segoe UI"/>
              </a:defRPr>
            </a:pPr>
            <a:r>
              <a:t>FEATURE 02 // TIME WINDOW ENGINE</a:t>
            </a:r>
          </a:p>
          <a:p>
            <a:pPr>
              <a:spcAft>
                <a:spcPts val="600"/>
              </a:spcAft>
              <a:defRPr sz="1400" b="1">
                <a:solidFill>
                  <a:srgbClr val="FFFFFF"/>
                </a:solidFill>
                <a:latin typeface="Segoe UI"/>
              </a:defRPr>
            </a:pPr>
            <a:r>
              <a:t>Rolling 30-Minute Dynamic Window</a:t>
            </a:r>
          </a:p>
          <a:p>
            <a:pPr>
              <a:spcAft>
                <a:spcPts val="300"/>
              </a:spcAft>
              <a:defRPr sz="1050" b="1">
                <a:solidFill>
                  <a:srgbClr val="A855F7"/>
                </a:solidFill>
                <a:latin typeface="Segoe UI"/>
              </a:defRPr>
            </a:pPr>
            <a:r>
              <a:t>• Temporal Horizon: </a:t>
            </a:r>
            <a:r>
              <a:rPr b="0">
                <a:solidFill>
                  <a:srgbClr val="E2E8F0"/>
                </a:solidFill>
              </a:rPr>
              <a:t>Continuously isolates observations within a 30-minute window to capture live, evolving city conditions.</a:t>
            </a:r>
          </a:p>
          <a:p>
            <a:pPr>
              <a:spcAft>
                <a:spcPts val="300"/>
              </a:spcAft>
              <a:defRPr sz="1050" b="1">
                <a:solidFill>
                  <a:srgbClr val="A855F7"/>
                </a:solidFill>
                <a:latin typeface="Segoe UI"/>
              </a:defRPr>
            </a:pPr>
            <a:r>
              <a:t>• Statistical Anomaly Math: </a:t>
            </a:r>
            <a:r>
              <a:rPr b="0">
                <a:solidFill>
                  <a:srgbClr val="E2E8F0"/>
                </a:solidFill>
              </a:rPr>
              <a:t>Employs Z-Score calculations (zScore &gt;= 2.0) or threshold rules (current &gt;= avg * 1.5) to flag genuine civic spikes.</a:t>
            </a:r>
          </a:p>
          <a:p>
            <a:pPr>
              <a:spcAft>
                <a:spcPts val="300"/>
              </a:spcAft>
              <a:defRPr sz="1050" b="1">
                <a:solidFill>
                  <a:srgbClr val="A855F7"/>
                </a:solidFill>
                <a:latin typeface="Segoe UI"/>
              </a:defRPr>
            </a:pPr>
            <a:r>
              <a:t>• Expired Event Pruning: </a:t>
            </a:r>
            <a:r>
              <a:rPr b="0">
                <a:solidFill>
                  <a:srgbClr val="E2E8F0"/>
                </a:solidFill>
              </a:rPr>
              <a:t>Outdated readings automatically roll out of the alert pipeline to prevent stale alarms.</a:t>
            </a:r>
          </a:p>
        </p:txBody>
      </p:sp>
      <p:sp>
        <p:nvSpPr>
          <p:cNvPr id="8" name="Rounded Rectangle 7"/>
          <p:cNvSpPr/>
          <p:nvPr/>
        </p:nvSpPr>
        <p:spPr>
          <a:xfrm>
            <a:off x="731520" y="4206240"/>
            <a:ext cx="5184648" cy="214884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343400"/>
            <a:ext cx="4727448" cy="1874520"/>
          </a:xfrm>
          <a:prstGeom prst="rect">
            <a:avLst/>
          </a:prstGeom>
          <a:noFill/>
        </p:spPr>
        <p:txBody>
          <a:bodyPr wrap="square">
            <a:spAutoFit/>
          </a:bodyPr>
          <a:lstStyle/>
          <a:p>
            <a:pPr>
              <a:spcAft>
                <a:spcPts val="200"/>
              </a:spcAft>
              <a:defRPr sz="950" b="1">
                <a:solidFill>
                  <a:srgbClr val="10B981"/>
                </a:solidFill>
                <a:latin typeface="Segoe UI"/>
              </a:defRPr>
            </a:pPr>
            <a:r>
              <a:t>FEATURE 03 // CORRELATION ENGINE</a:t>
            </a:r>
          </a:p>
          <a:p>
            <a:pPr>
              <a:spcAft>
                <a:spcPts val="600"/>
              </a:spcAft>
              <a:defRPr sz="1400" b="1">
                <a:solidFill>
                  <a:srgbClr val="FFFFFF"/>
                </a:solidFill>
                <a:latin typeface="Segoe UI"/>
              </a:defRPr>
            </a:pPr>
            <a:r>
              <a:t>Mathematical Link Scoring (LinkScore)</a:t>
            </a:r>
          </a:p>
          <a:p>
            <a:pPr>
              <a:spcAft>
                <a:spcPts val="300"/>
              </a:spcAft>
              <a:defRPr sz="1050" b="1">
                <a:solidFill>
                  <a:srgbClr val="10B981"/>
                </a:solidFill>
                <a:latin typeface="Segoe UI"/>
              </a:defRPr>
            </a:pPr>
            <a:r>
              <a:t>• Rigorous Formula: </a:t>
            </a:r>
            <a:r>
              <a:rPr b="0">
                <a:solidFill>
                  <a:srgbClr val="E2E8F0"/>
                </a:solidFill>
              </a:rPr>
              <a:t>LinkScore = 0.40 * TimeScore + 0.30 * LocationScore + 0.30 * UnusualScore.</a:t>
            </a:r>
          </a:p>
          <a:p>
            <a:pPr>
              <a:spcAft>
                <a:spcPts val="300"/>
              </a:spcAft>
              <a:defRPr sz="1050" b="1">
                <a:solidFill>
                  <a:srgbClr val="10B981"/>
                </a:solidFill>
                <a:latin typeface="Segoe UI"/>
              </a:defRPr>
            </a:pPr>
            <a:r>
              <a:t>• Association Threshold: </a:t>
            </a:r>
            <a:r>
              <a:rPr b="0">
                <a:solidFill>
                  <a:srgbClr val="E2E8F0"/>
                </a:solidFill>
              </a:rPr>
              <a:t>Scores &gt;= 0.70 surface a 'Possible Link' between coinciding events in the same zone.</a:t>
            </a:r>
          </a:p>
          <a:p>
            <a:pPr>
              <a:spcAft>
                <a:spcPts val="300"/>
              </a:spcAft>
              <a:defRPr sz="1050" b="1">
                <a:solidFill>
                  <a:srgbClr val="10B981"/>
                </a:solidFill>
                <a:latin typeface="Segoe UI"/>
              </a:defRPr>
            </a:pPr>
            <a:r>
              <a:t>• Correlation Safety Rule: </a:t>
            </a:r>
            <a:r>
              <a:rPr b="0">
                <a:solidFill>
                  <a:srgbClr val="E2E8F0"/>
                </a:solidFill>
              </a:rPr>
              <a:t>Strictly framed as 'may be related' or 'happening alongside' — never claims unproven causation.</a:t>
            </a:r>
          </a:p>
        </p:txBody>
      </p:sp>
      <p:sp>
        <p:nvSpPr>
          <p:cNvPr id="10" name="Rounded Rectangle 9"/>
          <p:cNvSpPr/>
          <p:nvPr/>
        </p:nvSpPr>
        <p:spPr>
          <a:xfrm>
            <a:off x="6272784" y="4206240"/>
            <a:ext cx="5184648" cy="214884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4343400"/>
            <a:ext cx="4727448" cy="1874520"/>
          </a:xfrm>
          <a:prstGeom prst="rect">
            <a:avLst/>
          </a:prstGeom>
          <a:noFill/>
        </p:spPr>
        <p:txBody>
          <a:bodyPr wrap="square">
            <a:spAutoFit/>
          </a:bodyPr>
          <a:lstStyle/>
          <a:p>
            <a:pPr>
              <a:spcAft>
                <a:spcPts val="200"/>
              </a:spcAft>
              <a:defRPr sz="950" b="1">
                <a:solidFill>
                  <a:srgbClr val="F59E0B"/>
                </a:solidFill>
                <a:latin typeface="Segoe UI"/>
              </a:defRPr>
            </a:pPr>
            <a:r>
              <a:t>FEATURE 04 // RESILIENT UX &amp; SUMMARIES</a:t>
            </a:r>
          </a:p>
          <a:p>
            <a:pPr>
              <a:spcAft>
                <a:spcPts val="600"/>
              </a:spcAft>
              <a:defRPr sz="1400" b="1">
                <a:solidFill>
                  <a:srgbClr val="FFFFFF"/>
                </a:solidFill>
                <a:latin typeface="Segoe UI"/>
              </a:defRPr>
            </a:pPr>
            <a:r>
              <a:t>Zero-Crash Architecture &amp; Groq Briefs</a:t>
            </a:r>
          </a:p>
          <a:p>
            <a:pPr>
              <a:spcAft>
                <a:spcPts val="300"/>
              </a:spcAft>
              <a:defRPr sz="1050" b="1">
                <a:solidFill>
                  <a:srgbClr val="F59E0B"/>
                </a:solidFill>
                <a:latin typeface="Segoe UI"/>
              </a:defRPr>
            </a:pPr>
            <a:r>
              <a:t>• Graceful Feed Degradation: </a:t>
            </a:r>
            <a:r>
              <a:rPr b="0">
                <a:solidFill>
                  <a:srgbClr val="E2E8F0"/>
                </a:solidFill>
              </a:rPr>
              <a:t>If any feed fails, it is marked 'Unavailable'; remaining feeds continue operating smoothly.</a:t>
            </a:r>
          </a:p>
          <a:p>
            <a:pPr>
              <a:spcAft>
                <a:spcPts val="300"/>
              </a:spcAft>
              <a:defRPr sz="1050" b="1">
                <a:solidFill>
                  <a:srgbClr val="F59E0B"/>
                </a:solidFill>
                <a:latin typeface="Segoe UI"/>
              </a:defRPr>
            </a:pPr>
            <a:r>
              <a:t>• Constrained AI Summaries: </a:t>
            </a:r>
            <a:r>
              <a:rPr b="0">
                <a:solidFill>
                  <a:srgbClr val="E2E8F0"/>
                </a:solidFill>
              </a:rPr>
              <a:t>Optional Groq LLM formats verified facts into concise briefs, with deterministic template fallback.</a:t>
            </a:r>
          </a:p>
          <a:p>
            <a:pPr>
              <a:spcAft>
                <a:spcPts val="300"/>
              </a:spcAft>
              <a:defRPr sz="1050" b="1">
                <a:solidFill>
                  <a:srgbClr val="F59E0B"/>
                </a:solidFill>
                <a:latin typeface="Segoe UI"/>
              </a:defRPr>
            </a:pPr>
            <a:r>
              <a:t>• Total Resident Privacy: </a:t>
            </a:r>
            <a:r>
              <a:rPr b="0">
                <a:solidFill>
                  <a:srgbClr val="E2E8F0"/>
                </a:solidFill>
              </a:rPr>
              <a:t>Strict aggregation: zero names, numbers, emails, or personal identifiers.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03 // SYSTEM ARCHITECTURE</a:t>
            </a:r>
          </a:p>
          <a:p>
            <a:pPr>
              <a:spcAft>
                <a:spcPts val="200"/>
              </a:spcAft>
              <a:defRPr sz="2400" b="1">
                <a:solidFill>
                  <a:srgbClr val="FFFFFF"/>
                </a:solidFill>
                <a:latin typeface="Segoe UI"/>
              </a:defRPr>
            </a:pPr>
            <a:r>
              <a:t>Production-Grade Pipeline Built in a 24-Hour Sprint</a:t>
            </a:r>
          </a:p>
          <a:p>
            <a:pPr>
              <a:defRPr sz="1150">
                <a:solidFill>
                  <a:srgbClr val="94A3B8"/>
                </a:solidFill>
                <a:latin typeface="Segoe UI"/>
              </a:defRPr>
            </a:pPr>
            <a:r>
              <a:t>Clean separation of concerns: Ingestion -&gt; Normalization -&gt; Storage -&gt; Analysis -&gt; Presentation.</a:t>
            </a:r>
          </a:p>
        </p:txBody>
      </p:sp>
      <p:sp>
        <p:nvSpPr>
          <p:cNvPr id="4" name="Rounded Rectangle 3"/>
          <p:cNvSpPr/>
          <p:nvPr/>
        </p:nvSpPr>
        <p:spPr>
          <a:xfrm>
            <a:off x="731520" y="1783080"/>
            <a:ext cx="621792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5760720" cy="4297680"/>
          </a:xfrm>
          <a:prstGeom prst="rect">
            <a:avLst/>
          </a:prstGeom>
          <a:noFill/>
        </p:spPr>
        <p:txBody>
          <a:bodyPr wrap="square">
            <a:spAutoFit/>
          </a:bodyPr>
          <a:lstStyle/>
          <a:p>
            <a:pPr>
              <a:spcAft>
                <a:spcPts val="1000"/>
              </a:spcAft>
              <a:defRPr sz="1100" b="1">
                <a:solidFill>
                  <a:srgbClr val="38BDF8"/>
                </a:solidFill>
                <a:latin typeface="Segoe UI"/>
              </a:defRPr>
            </a:pPr>
            <a:r>
              <a:t>CORE DATA FLOW &amp; RESILIENT PIPELINE</a:t>
            </a:r>
          </a:p>
          <a:p>
            <a:pPr>
              <a:spcAft>
                <a:spcPts val="700"/>
              </a:spcAft>
              <a:defRPr sz="1100" b="1">
                <a:solidFill>
                  <a:srgbClr val="FFFFFF"/>
                </a:solidFill>
                <a:latin typeface="Segoe UI"/>
              </a:defRPr>
            </a:pPr>
            <a:r>
              <a:t>1. Data Ingestion (4 Civic Feeds)</a:t>
            </a:r>
            <a:br/>
            <a:r>
              <a:rPr b="0" sz="1000">
                <a:solidFill>
                  <a:srgbClr val="94A3B8"/>
                </a:solidFill>
              </a:rPr>
              <a:t>   → Live Open-Meteo Weather API + Live Open-Meteo US AQI + Simulated JSON Transit &amp; Citizen Reports across 5 Jaipur zones.</a:t>
            </a:r>
          </a:p>
          <a:p>
            <a:pPr>
              <a:spcAft>
                <a:spcPts val="700"/>
              </a:spcAft>
              <a:defRPr sz="1100" b="1">
                <a:solidFill>
                  <a:srgbClr val="FFFFFF"/>
                </a:solidFill>
                <a:latin typeface="Segoe UI"/>
              </a:defRPr>
            </a:pPr>
            <a:r>
              <a:t>2. Normalization Engine (/lib/normalizers)</a:t>
            </a:r>
            <a:br/>
            <a:r>
              <a:rPr b="0" sz="1000">
                <a:solidFill>
                  <a:srgbClr val="94A3B8"/>
                </a:solidFill>
              </a:rPr>
              <a:t>   → Transforms disparate payloads into typed 'CityEvent' objects; validates ISO-8601 timestamps and coordinates.</a:t>
            </a:r>
          </a:p>
          <a:p>
            <a:pPr>
              <a:spcAft>
                <a:spcPts val="700"/>
              </a:spcAft>
              <a:defRPr sz="1100" b="1">
                <a:solidFill>
                  <a:srgbClr val="FFFFFF"/>
                </a:solidFill>
                <a:latin typeface="Segoe UI"/>
              </a:defRPr>
            </a:pPr>
            <a:r>
              <a:t>3. Storage &amp; Audit Trail (Supabase PostgreSQL)</a:t>
            </a:r>
            <a:br/>
            <a:r>
              <a:rPr b="0" sz="1000">
                <a:solidFill>
                  <a:srgbClr val="94A3B8"/>
                </a:solidFill>
              </a:rPr>
              <a:t>   → Persists normalized events and health heartbeats; schema validated in supabase/schema.sql.</a:t>
            </a:r>
          </a:p>
          <a:p>
            <a:pPr>
              <a:spcAft>
                <a:spcPts val="700"/>
              </a:spcAft>
              <a:defRPr sz="1100" b="1">
                <a:solidFill>
                  <a:srgbClr val="FFFFFF"/>
                </a:solidFill>
                <a:latin typeface="Segoe UI"/>
              </a:defRPr>
            </a:pPr>
            <a:r>
              <a:t>4. Rolling 30-Min Analysis (/lib/analysis)</a:t>
            </a:r>
            <a:br/>
            <a:r>
              <a:rPr b="0" sz="1000">
                <a:solidFill>
                  <a:srgbClr val="94A3B8"/>
                </a:solidFill>
              </a:rPr>
              <a:t>   → Filters events within [now - 30m, now]; computes Z-Scores for rainfall, AQI, transit delays, and report volume.</a:t>
            </a:r>
          </a:p>
          <a:p>
            <a:pPr>
              <a:spcAft>
                <a:spcPts val="700"/>
              </a:spcAft>
              <a:defRPr sz="1100" b="1">
                <a:solidFill>
                  <a:srgbClr val="FFFFFF"/>
                </a:solidFill>
                <a:latin typeface="Segoe UI"/>
              </a:defRPr>
            </a:pPr>
            <a:r>
              <a:t>5. Spatio-Temporal Link Scoring</a:t>
            </a:r>
            <a:br/>
            <a:r>
              <a:rPr b="0" sz="1000">
                <a:solidFill>
                  <a:srgbClr val="94A3B8"/>
                </a:solidFill>
              </a:rPr>
              <a:t>   → Calculates time proximity + location distance + anomaly intensity. Flags Possible Links when score &gt;= 0.70.</a:t>
            </a:r>
          </a:p>
          <a:p>
            <a:pPr>
              <a:spcAft>
                <a:spcPts val="700"/>
              </a:spcAft>
              <a:defRPr sz="1100" b="1">
                <a:solidFill>
                  <a:srgbClr val="FFFFFF"/>
                </a:solidFill>
                <a:latin typeface="Segoe UI"/>
              </a:defRPr>
            </a:pPr>
            <a:r>
              <a:t>6. API Gateway &amp; Summary (/api/status)</a:t>
            </a:r>
            <a:br/>
            <a:r>
              <a:rPr b="0" sz="1000">
                <a:solidFill>
                  <a:srgbClr val="94A3B8"/>
                </a:solidFill>
              </a:rPr>
              <a:t>   → Serves single unified contract to frontend; attaches Groq-grounded or deterministic plain-language brief.</a:t>
            </a:r>
          </a:p>
        </p:txBody>
      </p:sp>
      <p:sp>
        <p:nvSpPr>
          <p:cNvPr id="6" name="Rounded Rectangle 5"/>
          <p:cNvSpPr/>
          <p:nvPr/>
        </p:nvSpPr>
        <p:spPr>
          <a:xfrm>
            <a:off x="7306056" y="1783080"/>
            <a:ext cx="4151376"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34656" y="1920240"/>
            <a:ext cx="3694176" cy="4297680"/>
          </a:xfrm>
          <a:prstGeom prst="rect">
            <a:avLst/>
          </a:prstGeom>
          <a:noFill/>
        </p:spPr>
        <p:txBody>
          <a:bodyPr wrap="square">
            <a:spAutoFit/>
          </a:bodyPr>
          <a:lstStyle/>
          <a:p>
            <a:pPr>
              <a:spcAft>
                <a:spcPts val="1000"/>
              </a:spcAft>
              <a:defRPr sz="1100" b="1">
                <a:solidFill>
                  <a:srgbClr val="A855F7"/>
                </a:solidFill>
                <a:latin typeface="Segoe UI"/>
              </a:defRPr>
            </a:pPr>
            <a:r>
              <a:t>24-HOUR SPRINT TECH STACK</a:t>
            </a:r>
          </a:p>
          <a:p>
            <a:pPr>
              <a:spcAft>
                <a:spcPts val="500"/>
              </a:spcAft>
              <a:defRPr sz="1100" b="1">
                <a:solidFill>
                  <a:srgbClr val="38BDF8"/>
                </a:solidFill>
                <a:latin typeface="Segoe UI"/>
              </a:defRPr>
            </a:pPr>
            <a:r>
              <a:t>• Frontend &amp; SSR: </a:t>
            </a:r>
            <a:r>
              <a:rPr b="0" sz="1000">
                <a:solidFill>
                  <a:srgbClr val="E2E8F0"/>
                </a:solidFill>
              </a:rPr>
              <a:t>Next.js 15 (App Router), React 19, TypeScript</a:t>
            </a:r>
          </a:p>
          <a:p>
            <a:pPr>
              <a:spcAft>
                <a:spcPts val="500"/>
              </a:spcAft>
              <a:defRPr sz="1100" b="1">
                <a:solidFill>
                  <a:srgbClr val="38BDF8"/>
                </a:solidFill>
                <a:latin typeface="Segoe UI"/>
              </a:defRPr>
            </a:pPr>
            <a:r>
              <a:t>• Styling &amp; Motion: </a:t>
            </a:r>
            <a:r>
              <a:rPr b="0" sz="1000">
                <a:solidFill>
                  <a:srgbClr val="E2E8F0"/>
                </a:solidFill>
              </a:rPr>
              <a:t>Tailwind CSS, GSAP 3.15, Motion animations</a:t>
            </a:r>
          </a:p>
          <a:p>
            <a:pPr>
              <a:spcAft>
                <a:spcPts val="500"/>
              </a:spcAft>
              <a:defRPr sz="1100" b="1">
                <a:solidFill>
                  <a:srgbClr val="38BDF8"/>
                </a:solidFill>
                <a:latin typeface="Segoe UI"/>
              </a:defRPr>
            </a:pPr>
            <a:r>
              <a:t>• Geospatial GIS: </a:t>
            </a:r>
            <a:r>
              <a:rPr b="0" sz="1000">
                <a:solidFill>
                  <a:srgbClr val="E2E8F0"/>
                </a:solidFill>
              </a:rPr>
              <a:t>React Leaflet, OpenStreetMap, Custom Map Markers</a:t>
            </a:r>
          </a:p>
          <a:p>
            <a:pPr>
              <a:spcAft>
                <a:spcPts val="500"/>
              </a:spcAft>
              <a:defRPr sz="1100" b="1">
                <a:solidFill>
                  <a:srgbClr val="38BDF8"/>
                </a:solidFill>
                <a:latin typeface="Segoe UI"/>
              </a:defRPr>
            </a:pPr>
            <a:r>
              <a:t>• Database / Cloud: </a:t>
            </a:r>
            <a:r>
              <a:rPr b="0" sz="1000">
                <a:solidFill>
                  <a:srgbClr val="E2E8F0"/>
                </a:solidFill>
              </a:rPr>
              <a:t>Supabase PostgreSQL (Event audit &amp; source health)</a:t>
            </a:r>
          </a:p>
          <a:p>
            <a:pPr>
              <a:spcAft>
                <a:spcPts val="500"/>
              </a:spcAft>
              <a:defRPr sz="1100" b="1">
                <a:solidFill>
                  <a:srgbClr val="38BDF8"/>
                </a:solidFill>
                <a:latin typeface="Segoe UI"/>
              </a:defRPr>
            </a:pPr>
            <a:r>
              <a:t>• External APIs: </a:t>
            </a:r>
            <a:r>
              <a:rPr b="0" sz="1000">
                <a:solidFill>
                  <a:srgbClr val="E2E8F0"/>
                </a:solidFill>
              </a:rPr>
              <a:t>Open-Meteo Weather &amp; US Air Quality (Public, no key)</a:t>
            </a:r>
          </a:p>
          <a:p>
            <a:pPr>
              <a:spcAft>
                <a:spcPts val="500"/>
              </a:spcAft>
              <a:defRPr sz="1100" b="1">
                <a:solidFill>
                  <a:srgbClr val="38BDF8"/>
                </a:solidFill>
                <a:latin typeface="Segoe UI"/>
              </a:defRPr>
            </a:pPr>
            <a:r>
              <a:t>• AI Enhancer: </a:t>
            </a:r>
            <a:r>
              <a:rPr b="0" sz="1000">
                <a:solidFill>
                  <a:srgbClr val="E2E8F0"/>
                </a:solidFill>
              </a:rPr>
              <a:t>Groq API (Fact-constrained resident summaries)</a:t>
            </a:r>
          </a:p>
          <a:p>
            <a:pPr>
              <a:spcAft>
                <a:spcPts val="500"/>
              </a:spcAft>
              <a:defRPr sz="1100" b="1">
                <a:solidFill>
                  <a:srgbClr val="38BDF8"/>
                </a:solidFill>
                <a:latin typeface="Segoe UI"/>
              </a:defRPr>
            </a:pPr>
            <a:r>
              <a:t>• Quality &amp; Testing: </a:t>
            </a:r>
            <a:r>
              <a:rPr b="0" sz="1000">
                <a:solidFill>
                  <a:srgbClr val="E2E8F0"/>
                </a:solidFill>
              </a:rPr>
              <a:t>Node test runner (tsx), ESLint, Integration suite</a:t>
            </a:r>
          </a:p>
          <a:p>
            <a:pPr>
              <a:spcAft>
                <a:spcPts val="500"/>
              </a:spcAft>
              <a:defRPr sz="1100" b="1">
                <a:solidFill>
                  <a:srgbClr val="38BDF8"/>
                </a:solidFill>
                <a:latin typeface="Segoe UI"/>
              </a:defRPr>
            </a:pPr>
            <a:r>
              <a:t>• Deployment: </a:t>
            </a:r>
            <a:r>
              <a:rPr b="0" sz="1000">
                <a:solidFill>
                  <a:srgbClr val="E2E8F0"/>
                </a:solidFill>
              </a:rPr>
              <a:t>Vercel Edge Platform (Auto-deploy on git push)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04 // LIVE DEMO CHECKLIST</a:t>
            </a:r>
          </a:p>
          <a:p>
            <a:pPr>
              <a:spcAft>
                <a:spcPts val="200"/>
              </a:spcAft>
              <a:defRPr sz="2400" b="1">
                <a:solidFill>
                  <a:srgbClr val="FFFFFF"/>
                </a:solidFill>
                <a:latin typeface="Segoe UI"/>
              </a:defRPr>
            </a:pPr>
            <a:r>
              <a:t>Sequential 7-Minute Demo Flow for Judges</a:t>
            </a:r>
          </a:p>
          <a:p>
            <a:pPr>
              <a:defRPr sz="1150">
                <a:solidFill>
                  <a:srgbClr val="94A3B8"/>
                </a:solidFill>
                <a:latin typeface="Segoe UI"/>
              </a:defRPr>
            </a:pPr>
            <a:r>
              <a:t>Designed precisely to fulfill Section 6.3 of the Hackathon Presentation &amp; Demo Guidelines.</a:t>
            </a:r>
          </a:p>
        </p:txBody>
      </p:sp>
      <p:sp>
        <p:nvSpPr>
          <p:cNvPr id="4" name="Rounded Rectangle 3"/>
          <p:cNvSpPr/>
          <p:nvPr/>
        </p:nvSpPr>
        <p:spPr>
          <a:xfrm>
            <a:off x="731520" y="1783080"/>
            <a:ext cx="24231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057400" cy="4206240"/>
          </a:xfrm>
          <a:prstGeom prst="rect">
            <a:avLst/>
          </a:prstGeom>
          <a:noFill/>
        </p:spPr>
        <p:txBody>
          <a:bodyPr wrap="square">
            <a:spAutoFit/>
          </a:bodyPr>
          <a:lstStyle/>
          <a:p>
            <a:pPr>
              <a:spcAft>
                <a:spcPts val="200"/>
              </a:spcAft>
              <a:defRPr sz="1000" b="1">
                <a:solidFill>
                  <a:srgbClr val="38BDF8"/>
                </a:solidFill>
                <a:latin typeface="Segoe UI"/>
              </a:defRPr>
            </a:pPr>
            <a:r>
              <a:t>PHASE 01</a:t>
            </a:r>
          </a:p>
          <a:p>
            <a:pPr>
              <a:spcAft>
                <a:spcPts val="400"/>
              </a:spcAft>
              <a:defRPr sz="950" b="1">
                <a:solidFill>
                  <a:srgbClr val="94A3B8"/>
                </a:solidFill>
                <a:latin typeface="Segoe UI"/>
              </a:defRPr>
            </a:pPr>
            <a:r>
              <a:t>0:00 - 1:30</a:t>
            </a:r>
          </a:p>
          <a:p>
            <a:pPr>
              <a:spcAft>
                <a:spcPts val="1000"/>
              </a:spcAft>
              <a:defRPr sz="1300" b="1">
                <a:solidFill>
                  <a:srgbClr val="FFFFFF"/>
                </a:solidFill>
                <a:latin typeface="Segoe UI"/>
              </a:defRPr>
            </a:pPr>
            <a:r>
              <a:t>Multi-Zone Overview</a:t>
            </a:r>
          </a:p>
          <a:p>
            <a:pPr>
              <a:spcAft>
                <a:spcPts val="600"/>
              </a:spcAft>
              <a:defRPr sz="1000" b="1">
                <a:solidFill>
                  <a:srgbClr val="38BDF8"/>
                </a:solidFill>
                <a:latin typeface="Segoe UI"/>
              </a:defRPr>
            </a:pPr>
            <a:r>
              <a:t>• 5 Jaipur Municipalities:</a:t>
            </a:r>
            <a:br/>
            <a:r>
              <a:rPr b="0" sz="950">
                <a:solidFill>
                  <a:srgbClr val="E2E8F0"/>
                </a:solidFill>
              </a:rPr>
              <a:t>  Malviya Nagar, Mansarovar, Vaishali Nagar, Jagatpura, C-Scheme.</a:t>
            </a:r>
          </a:p>
          <a:p>
            <a:pPr>
              <a:spcAft>
                <a:spcPts val="600"/>
              </a:spcAft>
              <a:defRPr sz="1000" b="1">
                <a:solidFill>
                  <a:srgbClr val="38BDF8"/>
                </a:solidFill>
                <a:latin typeface="Segoe UI"/>
              </a:defRPr>
            </a:pPr>
            <a:r>
              <a:t>• Live vs Simulated Labels:</a:t>
            </a:r>
            <a:br/>
            <a:r>
              <a:rPr b="0" sz="950">
                <a:solidFill>
                  <a:srgbClr val="E2E8F0"/>
                </a:solidFill>
              </a:rPr>
              <a:t>  Point out green 'Live' badge for Open-Meteo feeds vs grey 'Simulated' badge for transport &amp; reports.</a:t>
            </a:r>
          </a:p>
          <a:p>
            <a:pPr>
              <a:spcAft>
                <a:spcPts val="600"/>
              </a:spcAft>
              <a:defRPr sz="1000" b="1">
                <a:solidFill>
                  <a:srgbClr val="38BDF8"/>
                </a:solidFill>
                <a:latin typeface="Segoe UI"/>
              </a:defRPr>
            </a:pPr>
            <a:r>
              <a:t>• Resident-First Glance:</a:t>
            </a:r>
            <a:br/>
            <a:r>
              <a:rPr b="0" sz="950">
                <a:solidFill>
                  <a:srgbClr val="E2E8F0"/>
                </a:solidFill>
              </a:rPr>
              <a:t>  Show City Status header and 4 Current Situation KPI cards.</a:t>
            </a:r>
          </a:p>
        </p:txBody>
      </p:sp>
      <p:sp>
        <p:nvSpPr>
          <p:cNvPr id="6" name="Rounded Rectangle 5"/>
          <p:cNvSpPr/>
          <p:nvPr/>
        </p:nvSpPr>
        <p:spPr>
          <a:xfrm>
            <a:off x="3493008" y="1783080"/>
            <a:ext cx="24231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75888" y="1965960"/>
            <a:ext cx="2057400" cy="4206240"/>
          </a:xfrm>
          <a:prstGeom prst="rect">
            <a:avLst/>
          </a:prstGeom>
          <a:noFill/>
        </p:spPr>
        <p:txBody>
          <a:bodyPr wrap="square">
            <a:spAutoFit/>
          </a:bodyPr>
          <a:lstStyle/>
          <a:p>
            <a:pPr>
              <a:spcAft>
                <a:spcPts val="200"/>
              </a:spcAft>
              <a:defRPr sz="1000" b="1">
                <a:solidFill>
                  <a:srgbClr val="A855F7"/>
                </a:solidFill>
                <a:latin typeface="Segoe UI"/>
              </a:defRPr>
            </a:pPr>
            <a:r>
              <a:t>PHASE 02</a:t>
            </a:r>
          </a:p>
          <a:p>
            <a:pPr>
              <a:spcAft>
                <a:spcPts val="400"/>
              </a:spcAft>
              <a:defRPr sz="950" b="1">
                <a:solidFill>
                  <a:srgbClr val="94A3B8"/>
                </a:solidFill>
                <a:latin typeface="Segoe UI"/>
              </a:defRPr>
            </a:pPr>
            <a:r>
              <a:t>1:30 - 3:00</a:t>
            </a:r>
          </a:p>
          <a:p>
            <a:pPr>
              <a:spcAft>
                <a:spcPts val="1000"/>
              </a:spcAft>
              <a:defRPr sz="1300" b="1">
                <a:solidFill>
                  <a:srgbClr val="FFFFFF"/>
                </a:solidFill>
                <a:latin typeface="Segoe UI"/>
              </a:defRPr>
            </a:pPr>
            <a:r>
              <a:t>Interactive Leaflet GIS</a:t>
            </a:r>
          </a:p>
          <a:p>
            <a:pPr>
              <a:spcAft>
                <a:spcPts val="600"/>
              </a:spcAft>
              <a:defRPr sz="1000" b="1">
                <a:solidFill>
                  <a:srgbClr val="A855F7"/>
                </a:solidFill>
                <a:latin typeface="Segoe UI"/>
              </a:defRPr>
            </a:pPr>
            <a:r>
              <a:t>• Geospatial Pins:</a:t>
            </a:r>
            <a:br/>
            <a:r>
              <a:rPr b="0" sz="950">
                <a:solidFill>
                  <a:srgbClr val="E2E8F0"/>
                </a:solidFill>
              </a:rPr>
              <a:t>  Show interactive map pins with category color-coding and pulse effects.</a:t>
            </a:r>
          </a:p>
          <a:p>
            <a:pPr>
              <a:spcAft>
                <a:spcPts val="600"/>
              </a:spcAft>
              <a:defRPr sz="1000" b="1">
                <a:solidFill>
                  <a:srgbClr val="A855F7"/>
                </a:solidFill>
                <a:latin typeface="Segoe UI"/>
              </a:defRPr>
            </a:pPr>
            <a:r>
              <a:t>• Neighborhood Filtering:</a:t>
            </a:r>
            <a:br/>
            <a:r>
              <a:rPr b="0" sz="950">
                <a:solidFill>
                  <a:srgbClr val="E2E8F0"/>
                </a:solidFill>
              </a:rPr>
              <a:t>  Click each Jaipur zone to show area-aware telemetry switching and coordinate updates.</a:t>
            </a:r>
          </a:p>
          <a:p>
            <a:pPr>
              <a:spcAft>
                <a:spcPts val="600"/>
              </a:spcAft>
              <a:defRPr sz="1000" b="1">
                <a:solidFill>
                  <a:srgbClr val="A855F7"/>
                </a:solidFill>
                <a:latin typeface="Segoe UI"/>
              </a:defRPr>
            </a:pPr>
            <a:r>
              <a:t>• Incident Cards:</a:t>
            </a:r>
            <a:br/>
            <a:r>
              <a:rPr b="0" sz="950">
                <a:solidFill>
                  <a:srgbClr val="E2E8F0"/>
                </a:solidFill>
              </a:rPr>
              <a:t>  Click active markers to display raw metrics and observation timestamps.</a:t>
            </a:r>
          </a:p>
        </p:txBody>
      </p:sp>
      <p:sp>
        <p:nvSpPr>
          <p:cNvPr id="8" name="Rounded Rectangle 7"/>
          <p:cNvSpPr/>
          <p:nvPr/>
        </p:nvSpPr>
        <p:spPr>
          <a:xfrm>
            <a:off x="6254496" y="1783080"/>
            <a:ext cx="24231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1965960"/>
            <a:ext cx="2057400" cy="4206240"/>
          </a:xfrm>
          <a:prstGeom prst="rect">
            <a:avLst/>
          </a:prstGeom>
          <a:noFill/>
        </p:spPr>
        <p:txBody>
          <a:bodyPr wrap="square">
            <a:spAutoFit/>
          </a:bodyPr>
          <a:lstStyle/>
          <a:p>
            <a:pPr>
              <a:spcAft>
                <a:spcPts val="200"/>
              </a:spcAft>
              <a:defRPr sz="1000" b="1">
                <a:solidFill>
                  <a:srgbClr val="F59E0B"/>
                </a:solidFill>
                <a:latin typeface="Segoe UI"/>
              </a:defRPr>
            </a:pPr>
            <a:r>
              <a:t>PHASE 03</a:t>
            </a:r>
          </a:p>
          <a:p>
            <a:pPr>
              <a:spcAft>
                <a:spcPts val="400"/>
              </a:spcAft>
              <a:defRPr sz="950" b="1">
                <a:solidFill>
                  <a:srgbClr val="94A3B8"/>
                </a:solidFill>
                <a:latin typeface="Segoe UI"/>
              </a:defRPr>
            </a:pPr>
            <a:r>
              <a:t>3:00 - 5:15</a:t>
            </a:r>
          </a:p>
          <a:p>
            <a:pPr>
              <a:spcAft>
                <a:spcPts val="1000"/>
              </a:spcAft>
              <a:defRPr sz="1300" b="1">
                <a:solidFill>
                  <a:srgbClr val="FFFFFF"/>
                </a:solidFill>
                <a:latin typeface="Segoe UI"/>
              </a:defRPr>
            </a:pPr>
            <a:r>
              <a:t>Deterministic Replay</a:t>
            </a:r>
          </a:p>
          <a:p>
            <a:pPr>
              <a:spcAft>
                <a:spcPts val="600"/>
              </a:spcAft>
              <a:defRPr sz="1000" b="1">
                <a:solidFill>
                  <a:srgbClr val="F59E0B"/>
                </a:solidFill>
                <a:latin typeface="Segoe UI"/>
              </a:defRPr>
            </a:pPr>
            <a:r>
              <a:t>• Toggle Live / Replay:</a:t>
            </a:r>
            <a:br/>
            <a:r>
              <a:rPr b="0" sz="950">
                <a:solidFill>
                  <a:srgbClr val="E2E8F0"/>
                </a:solidFill>
              </a:rPr>
              <a:t>  Switch to Replay Mode with 3 selectable days (Sept 22, 23, 24).</a:t>
            </a:r>
          </a:p>
          <a:p>
            <a:pPr>
              <a:spcAft>
                <a:spcPts val="600"/>
              </a:spcAft>
              <a:defRPr sz="1000" b="1">
                <a:solidFill>
                  <a:srgbClr val="F59E0B"/>
                </a:solidFill>
                <a:latin typeface="Segoe UI"/>
              </a:defRPr>
            </a:pPr>
            <a:r>
              <a:t>• The 6-Step Escalation:</a:t>
            </a:r>
            <a:br/>
            <a:r>
              <a:rPr b="0" sz="950">
                <a:solidFill>
                  <a:srgbClr val="E2E8F0"/>
                </a:solidFill>
              </a:rPr>
              <a:t>  4:45 PM (Normal) → 5:05 PM (Heavy Rain Spike) → 5:16 PM (Waterlogging Reports) → 5:24 PM (Transit Delay) → 5:25 PM (**Possible Link**).</a:t>
            </a:r>
          </a:p>
          <a:p>
            <a:pPr>
              <a:spcAft>
                <a:spcPts val="600"/>
              </a:spcAft>
              <a:defRPr sz="1000" b="1">
                <a:solidFill>
                  <a:srgbClr val="F59E0B"/>
                </a:solidFill>
                <a:latin typeface="Segoe UI"/>
              </a:defRPr>
            </a:pPr>
            <a:r>
              <a:t>• No Fake Animation:</a:t>
            </a:r>
            <a:br/>
            <a:r>
              <a:rPr b="0" sz="950">
                <a:solidFill>
                  <a:srgbClr val="E2E8F0"/>
                </a:solidFill>
              </a:rPr>
              <a:t>  Explain that replay runs the exact same rolling-window math in real time.</a:t>
            </a:r>
          </a:p>
        </p:txBody>
      </p:sp>
      <p:sp>
        <p:nvSpPr>
          <p:cNvPr id="10" name="Rounded Rectangle 9"/>
          <p:cNvSpPr/>
          <p:nvPr/>
        </p:nvSpPr>
        <p:spPr>
          <a:xfrm>
            <a:off x="9015984" y="1783080"/>
            <a:ext cx="242316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98864" y="1965960"/>
            <a:ext cx="2057400" cy="4206240"/>
          </a:xfrm>
          <a:prstGeom prst="rect">
            <a:avLst/>
          </a:prstGeom>
          <a:noFill/>
        </p:spPr>
        <p:txBody>
          <a:bodyPr wrap="square">
            <a:spAutoFit/>
          </a:bodyPr>
          <a:lstStyle/>
          <a:p>
            <a:pPr>
              <a:spcAft>
                <a:spcPts val="200"/>
              </a:spcAft>
              <a:defRPr sz="1000" b="1">
                <a:solidFill>
                  <a:srgbClr val="10B981"/>
                </a:solidFill>
                <a:latin typeface="Segoe UI"/>
              </a:defRPr>
            </a:pPr>
            <a:r>
              <a:t>PHASE 04</a:t>
            </a:r>
          </a:p>
          <a:p>
            <a:pPr>
              <a:spcAft>
                <a:spcPts val="400"/>
              </a:spcAft>
              <a:defRPr sz="950" b="1">
                <a:solidFill>
                  <a:srgbClr val="94A3B8"/>
                </a:solidFill>
                <a:latin typeface="Segoe UI"/>
              </a:defRPr>
            </a:pPr>
            <a:r>
              <a:t>5:15 - 7:00</a:t>
            </a:r>
          </a:p>
          <a:p>
            <a:pPr>
              <a:spcAft>
                <a:spcPts val="1000"/>
              </a:spcAft>
              <a:defRPr sz="1300" b="1">
                <a:solidFill>
                  <a:srgbClr val="FFFFFF"/>
                </a:solidFill>
                <a:latin typeface="Segoe UI"/>
              </a:defRPr>
            </a:pPr>
            <a:r>
              <a:t>Correlation &amp; Safety</a:t>
            </a:r>
          </a:p>
          <a:p>
            <a:pPr>
              <a:spcAft>
                <a:spcPts val="600"/>
              </a:spcAft>
              <a:defRPr sz="1000" b="1">
                <a:solidFill>
                  <a:srgbClr val="10B981"/>
                </a:solidFill>
                <a:latin typeface="Segoe UI"/>
              </a:defRPr>
            </a:pPr>
            <a:r>
              <a:t>• Surfacing Possible Link:</a:t>
            </a:r>
            <a:br/>
            <a:r>
              <a:rPr b="0" sz="950">
                <a:solidFill>
                  <a:srgbClr val="E2E8F0"/>
                </a:solidFill>
              </a:rPr>
              <a:t>  Highlight LinkScore &gt;= 0.70 with cautious 'may be related' language.</a:t>
            </a:r>
          </a:p>
          <a:p>
            <a:pPr>
              <a:spcAft>
                <a:spcPts val="600"/>
              </a:spcAft>
              <a:defRPr sz="1000" b="1">
                <a:solidFill>
                  <a:srgbClr val="10B981"/>
                </a:solidFill>
                <a:latin typeface="Segoe UI"/>
              </a:defRPr>
            </a:pPr>
            <a:r>
              <a:t>• Groq Briefing:</a:t>
            </a:r>
            <a:br/>
            <a:r>
              <a:rPr b="0" sz="950">
                <a:solidFill>
                  <a:srgbClr val="E2E8F0"/>
                </a:solidFill>
              </a:rPr>
              <a:t>  Demonstrate concise, grounded resident summary without AI hallucinations.</a:t>
            </a:r>
          </a:p>
          <a:p>
            <a:pPr>
              <a:spcAft>
                <a:spcPts val="600"/>
              </a:spcAft>
              <a:defRPr sz="1000" b="1">
                <a:solidFill>
                  <a:srgbClr val="10B981"/>
                </a:solidFill>
                <a:latin typeface="Segoe UI"/>
              </a:defRPr>
            </a:pPr>
            <a:r>
              <a:t>• Fault Tolerance Check:</a:t>
            </a:r>
            <a:br/>
            <a:r>
              <a:rPr b="0" sz="950">
                <a:solidFill>
                  <a:srgbClr val="E2E8F0"/>
                </a:solidFill>
              </a:rPr>
              <a:t>  Explain zero-crash architecture if an API source drops offline.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05 // DEMO SCREENSHOTS</a:t>
            </a:r>
          </a:p>
          <a:p>
            <a:pPr>
              <a:spcAft>
                <a:spcPts val="200"/>
              </a:spcAft>
              <a:defRPr sz="2400" b="1">
                <a:solidFill>
                  <a:srgbClr val="FFFFFF"/>
                </a:solidFill>
                <a:latin typeface="Segoe UI"/>
              </a:defRPr>
            </a:pPr>
            <a:r>
              <a:t>Live Deployed Application in Action</a:t>
            </a:r>
          </a:p>
          <a:p>
            <a:pPr>
              <a:defRPr sz="1150">
                <a:solidFill>
                  <a:srgbClr val="94A3B8"/>
                </a:solidFill>
                <a:latin typeface="Segoe UI"/>
              </a:defRPr>
            </a:pPr>
            <a:r>
              <a:t>Mandatory Section 6.2 deliverable: High-resolution visual proof of the working Vercel deployment.</a:t>
            </a:r>
          </a:p>
        </p:txBody>
      </p:sp>
      <p:sp>
        <p:nvSpPr>
          <p:cNvPr id="4" name="Rounded Rectangle 3"/>
          <p:cNvSpPr/>
          <p:nvPr/>
        </p:nvSpPr>
        <p:spPr>
          <a:xfrm>
            <a:off x="731520" y="1783080"/>
            <a:ext cx="621792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5760720" cy="640080"/>
          </a:xfrm>
          <a:prstGeom prst="rect">
            <a:avLst/>
          </a:prstGeom>
          <a:noFill/>
        </p:spPr>
        <p:txBody>
          <a:bodyPr wrap="none">
            <a:spAutoFit/>
          </a:bodyPr>
          <a:lstStyle/>
          <a:p>
            <a:pPr>
              <a:spcAft>
                <a:spcPts val="200"/>
              </a:spcAft>
              <a:defRPr sz="1050" b="1">
                <a:solidFill>
                  <a:srgbClr val="38BDF8"/>
                </a:solidFill>
                <a:latin typeface="Segoe UI"/>
              </a:defRPr>
            </a:pPr>
            <a:r>
              <a:t>PRIMARY INTERACTION VIEW: LEAFLET GIS &amp; INCIDENT CARDS</a:t>
            </a:r>
          </a:p>
          <a:p>
            <a:pPr>
              <a:defRPr sz="950">
                <a:solidFill>
                  <a:srgbClr val="94A3B8"/>
                </a:solidFill>
                <a:latin typeface="Segoe UI"/>
              </a:defRPr>
            </a:pPr>
            <a:r>
              <a:t>Live status badges, interactive pins across Jaipur, and real-time alert threshold meters.</a:t>
            </a:r>
          </a:p>
        </p:txBody>
      </p:sp>
      <p:pic>
        <p:nvPicPr>
          <p:cNvPr id="6" name="Picture 5" descr="media_1790288488175_clean.png"/>
          <p:cNvPicPr>
            <a:picLocks noChangeAspect="1"/>
          </p:cNvPicPr>
          <p:nvPr/>
        </p:nvPicPr>
        <p:blipFill>
          <a:blip r:embed="rId2"/>
          <a:stretch>
            <a:fillRect/>
          </a:stretch>
        </p:blipFill>
        <p:spPr>
          <a:xfrm>
            <a:off x="1508700" y="2606040"/>
            <a:ext cx="4663558" cy="3520440"/>
          </a:xfrm>
          <a:prstGeom prst="rect">
            <a:avLst/>
          </a:prstGeom>
        </p:spPr>
      </p:pic>
      <p:sp>
        <p:nvSpPr>
          <p:cNvPr id="7" name="Rounded Rectangle 6"/>
          <p:cNvSpPr/>
          <p:nvPr/>
        </p:nvSpPr>
        <p:spPr>
          <a:xfrm>
            <a:off x="7223760" y="1783080"/>
            <a:ext cx="4233672"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874519"/>
            <a:ext cx="3776472" cy="640080"/>
          </a:xfrm>
          <a:prstGeom prst="rect">
            <a:avLst/>
          </a:prstGeom>
          <a:noFill/>
        </p:spPr>
        <p:txBody>
          <a:bodyPr wrap="none">
            <a:spAutoFit/>
          </a:bodyPr>
          <a:lstStyle/>
          <a:p>
            <a:pPr>
              <a:spcAft>
                <a:spcPts val="200"/>
              </a:spcAft>
              <a:defRPr sz="1050" b="1">
                <a:solidFill>
                  <a:srgbClr val="A855F7"/>
                </a:solidFill>
                <a:latin typeface="Segoe UI"/>
              </a:defRPr>
            </a:pPr>
            <a:r>
              <a:t>MULTI-ZONE TELEMETRY &amp; HISTORICAL TRENDS</a:t>
            </a:r>
          </a:p>
          <a:p>
            <a:pPr>
              <a:defRPr sz="950">
                <a:solidFill>
                  <a:srgbClr val="94A3B8"/>
                </a:solidFill>
                <a:latin typeface="Segoe UI"/>
              </a:defRPr>
            </a:pPr>
            <a:r>
              <a:t>Rainfall &amp; US AQI trend analysis across all 5 municipal zones (3-hour normalized telemetry).</a:t>
            </a:r>
          </a:p>
        </p:txBody>
      </p:sp>
      <p:pic>
        <p:nvPicPr>
          <p:cNvPr id="9" name="Picture 8" descr="media_1790303843900_clean.png"/>
          <p:cNvPicPr>
            <a:picLocks noChangeAspect="1"/>
          </p:cNvPicPr>
          <p:nvPr/>
        </p:nvPicPr>
        <p:blipFill>
          <a:blip r:embed="rId3"/>
          <a:stretch>
            <a:fillRect/>
          </a:stretch>
        </p:blipFill>
        <p:spPr>
          <a:xfrm>
            <a:off x="7452360" y="3497745"/>
            <a:ext cx="3776472" cy="17370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06 // RUBRIC ALIGNMENT &amp; FUTURE SCOPE</a:t>
            </a:r>
          </a:p>
          <a:p>
            <a:pPr>
              <a:spcAft>
                <a:spcPts val="200"/>
              </a:spcAft>
              <a:defRPr sz="2400" b="1">
                <a:solidFill>
                  <a:srgbClr val="FFFFFF"/>
                </a:solidFill>
                <a:latin typeface="Segoe UI"/>
              </a:defRPr>
            </a:pPr>
            <a:r>
              <a:t>Hitting Every Judging Metric + Roadmap for Municipal Scale</a:t>
            </a:r>
          </a:p>
          <a:p>
            <a:pPr>
              <a:defRPr sz="1150">
                <a:solidFill>
                  <a:srgbClr val="94A3B8"/>
                </a:solidFill>
                <a:latin typeface="Segoe UI"/>
              </a:defRPr>
            </a:pPr>
            <a:r>
              <a:t>Evaluating CityPulse against hackathon judging criteria and outlining next steps for production expansion.</a:t>
            </a:r>
          </a:p>
        </p:txBody>
      </p:sp>
      <p:sp>
        <p:nvSpPr>
          <p:cNvPr id="4" name="Rounded Rectangle 3"/>
          <p:cNvSpPr/>
          <p:nvPr/>
        </p:nvSpPr>
        <p:spPr>
          <a:xfrm>
            <a:off x="731520" y="1783080"/>
            <a:ext cx="6217920"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5760720" cy="4297680"/>
          </a:xfrm>
          <a:prstGeom prst="rect">
            <a:avLst/>
          </a:prstGeom>
          <a:noFill/>
        </p:spPr>
        <p:txBody>
          <a:bodyPr wrap="square">
            <a:spAutoFit/>
          </a:bodyPr>
          <a:lstStyle/>
          <a:p>
            <a:pPr>
              <a:spcAft>
                <a:spcPts val="1000"/>
              </a:spcAft>
              <a:defRPr sz="1100" b="1">
                <a:solidFill>
                  <a:srgbClr val="10B981"/>
                </a:solidFill>
                <a:latin typeface="Segoe UI"/>
              </a:defRPr>
            </a:pPr>
            <a:r>
              <a:t>HACKATHON JUDGING RUBRIC ALIGNMENT</a:t>
            </a:r>
          </a:p>
          <a:p>
            <a:pPr>
              <a:spcAft>
                <a:spcPts val="800"/>
              </a:spcAft>
              <a:defRPr sz="1100" b="1">
                <a:solidFill>
                  <a:srgbClr val="38BDF8"/>
                </a:solidFill>
                <a:latin typeface="Segoe UI"/>
              </a:defRPr>
            </a:pPr>
            <a:r>
              <a:t>✔ Innovation &amp; Novelty (Top Marks)</a:t>
            </a:r>
            <a:br/>
            <a:r>
              <a:rPr b="0" sz="1000">
                <a:solidFill>
                  <a:srgbClr val="E2E8F0"/>
                </a:solidFill>
              </a:rPr>
              <a:t>   Moves far beyond static data visualization. Introduces real-time multi-signal spatio-temporal correlation with mathematical link scoring and honest causal boundaries.</a:t>
            </a:r>
          </a:p>
          <a:p>
            <a:pPr>
              <a:spcAft>
                <a:spcPts val="800"/>
              </a:spcAft>
              <a:defRPr sz="1100" b="1">
                <a:solidFill>
                  <a:srgbClr val="38BDF8"/>
                </a:solidFill>
                <a:latin typeface="Segoe UI"/>
              </a:defRPr>
            </a:pPr>
            <a:r>
              <a:t>✔ Technical Complexity (Top Marks)</a:t>
            </a:r>
            <a:br/>
            <a:r>
              <a:rPr b="0" sz="1000">
                <a:solidFill>
                  <a:srgbClr val="E2E8F0"/>
                </a:solidFill>
              </a:rPr>
              <a:t>   Multi-source ingestion pipeline, universal ISO-8601 normalization, rolling 30-minute Z-Score statistical anomaly engine, and Supabase PostgreSQL persistence.</a:t>
            </a:r>
          </a:p>
          <a:p>
            <a:pPr>
              <a:spcAft>
                <a:spcPts val="800"/>
              </a:spcAft>
              <a:defRPr sz="1100" b="1">
                <a:solidFill>
                  <a:srgbClr val="38BDF8"/>
                </a:solidFill>
                <a:latin typeface="Segoe UI"/>
              </a:defRPr>
            </a:pPr>
            <a:r>
              <a:t>✔ Viability &amp; Resident Impact (Top Marks)</a:t>
            </a:r>
            <a:br/>
            <a:r>
              <a:rPr b="0" sz="1000">
                <a:solidFill>
                  <a:srgbClr val="E2E8F0"/>
                </a:solidFill>
              </a:rPr>
              <a:t>   Solves immediate urban pain during Jaipur monsoons. Directly integrates with citizen awareness and municipal emergency dispatch workflows.</a:t>
            </a:r>
          </a:p>
          <a:p>
            <a:pPr>
              <a:spcAft>
                <a:spcPts val="800"/>
              </a:spcAft>
              <a:defRPr sz="1100" b="1">
                <a:solidFill>
                  <a:srgbClr val="38BDF8"/>
                </a:solidFill>
                <a:latin typeface="Segoe UI"/>
              </a:defRPr>
            </a:pPr>
            <a:r>
              <a:t>✔ Design, UX &amp; Polish (Top Marks)</a:t>
            </a:r>
            <a:br/>
            <a:r>
              <a:rPr b="0" sz="1000">
                <a:solidFill>
                  <a:srgbClr val="E2E8F0"/>
                </a:solidFill>
              </a:rPr>
              <a:t>   Sleek dark-mode aesthetic, WCAG-compliant contrast, smooth GSAP/Motion micro-interactions, responsive GIS mapping, and zero-crash fault tolerance.</a:t>
            </a:r>
          </a:p>
        </p:txBody>
      </p:sp>
      <p:sp>
        <p:nvSpPr>
          <p:cNvPr id="6" name="Rounded Rectangle 5"/>
          <p:cNvSpPr/>
          <p:nvPr/>
        </p:nvSpPr>
        <p:spPr>
          <a:xfrm>
            <a:off x="7306056" y="1783080"/>
            <a:ext cx="4151376"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34656" y="1920240"/>
            <a:ext cx="3694176" cy="4297680"/>
          </a:xfrm>
          <a:prstGeom prst="rect">
            <a:avLst/>
          </a:prstGeom>
          <a:noFill/>
        </p:spPr>
        <p:txBody>
          <a:bodyPr wrap="square">
            <a:spAutoFit/>
          </a:bodyPr>
          <a:lstStyle/>
          <a:p>
            <a:pPr>
              <a:spcAft>
                <a:spcPts val="1200"/>
              </a:spcAft>
              <a:defRPr sz="1100" b="1">
                <a:solidFill>
                  <a:srgbClr val="A855F7"/>
                </a:solidFill>
                <a:latin typeface="Segoe UI"/>
              </a:defRPr>
            </a:pPr>
            <a:r>
              <a:t>FUTURE SCOPE: 2 LOGICAL NEXT STEPS</a:t>
            </a:r>
          </a:p>
          <a:p>
            <a:pPr>
              <a:spcAft>
                <a:spcPts val="1400"/>
              </a:spcAft>
              <a:defRPr sz="1150" b="1">
                <a:solidFill>
                  <a:srgbClr val="F59E0B"/>
                </a:solidFill>
                <a:latin typeface="Segoe UI"/>
              </a:defRPr>
            </a:pPr>
            <a:r>
              <a:t>★ Next Step 1: Real Municipal API Integrations</a:t>
            </a:r>
            <a:br/>
            <a:r>
              <a:rPr b="0" sz="1000">
                <a:solidFill>
                  <a:srgbClr val="E2E8F0"/>
                </a:solidFill>
              </a:rPr>
              <a:t>Directly integrate live GTFS real-time feeds from JCTSL (Jaipur City Transport), JMRC Metro telemetry, and Rajasthan Jan Soochna civic grievance webhooks directly into the CityEvent pipeline.</a:t>
            </a:r>
          </a:p>
          <a:p>
            <a:pPr>
              <a:spcAft>
                <a:spcPts val="1400"/>
              </a:spcAft>
              <a:defRPr sz="1150" b="1">
                <a:solidFill>
                  <a:srgbClr val="F59E0B"/>
                </a:solidFill>
                <a:latin typeface="Segoe UI"/>
              </a:defRPr>
            </a:pPr>
            <a:r>
              <a:t>★ Next Step 2: Multi-City Expansion &amp; Edge Sensors</a:t>
            </a:r>
            <a:br/>
            <a:r>
              <a:rPr b="0" sz="1000">
                <a:solidFill>
                  <a:srgbClr val="E2E8F0"/>
                </a:solidFill>
              </a:rPr>
              <a:t>Scale the rolling-window architecture across Kota, Jodhpur, and Udaipur; deploy low-cost IoT ultrasonic flood sensors under low-lying flyovers to feed live hyper-local telemetry into CityPulse.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300"/>
              </a:spcAft>
              <a:defRPr sz="1000" b="1">
                <a:solidFill>
                  <a:srgbClr val="38BDF8"/>
                </a:solidFill>
                <a:latin typeface="Segoe UI"/>
              </a:defRPr>
            </a:pPr>
            <a:r>
              <a:t>07 // DELIVERABLES &amp; Q&amp;A DEFENSE</a:t>
            </a:r>
          </a:p>
          <a:p>
            <a:pPr>
              <a:spcAft>
                <a:spcPts val="200"/>
              </a:spcAft>
              <a:defRPr sz="2400" b="1">
                <a:solidFill>
                  <a:srgbClr val="FFFFFF"/>
                </a:solidFill>
                <a:latin typeface="Segoe UI"/>
              </a:defRPr>
            </a:pPr>
            <a:r>
              <a:t>Complete Technical Package &amp; 3-Minute Q&amp;A Readiness</a:t>
            </a:r>
          </a:p>
          <a:p>
            <a:pPr>
              <a:defRPr sz="1150">
                <a:solidFill>
                  <a:srgbClr val="94A3B8"/>
                </a:solidFill>
                <a:latin typeface="Segoe UI"/>
              </a:defRPr>
            </a:pPr>
            <a:r>
              <a:t>Fulfilling Section 6.1 Technical Deliverables and preparing the team for judge scrutiny.</a:t>
            </a:r>
          </a:p>
        </p:txBody>
      </p:sp>
      <p:sp>
        <p:nvSpPr>
          <p:cNvPr id="4" name="Rounded Rectangle 3"/>
          <p:cNvSpPr/>
          <p:nvPr/>
        </p:nvSpPr>
        <p:spPr>
          <a:xfrm>
            <a:off x="731520" y="1783080"/>
            <a:ext cx="5184648"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4727448" cy="4297680"/>
          </a:xfrm>
          <a:prstGeom prst="rect">
            <a:avLst/>
          </a:prstGeom>
          <a:noFill/>
        </p:spPr>
        <p:txBody>
          <a:bodyPr wrap="square">
            <a:spAutoFit/>
          </a:bodyPr>
          <a:lstStyle/>
          <a:p>
            <a:pPr>
              <a:spcAft>
                <a:spcPts val="1000"/>
              </a:spcAft>
              <a:defRPr sz="1100" b="1">
                <a:solidFill>
                  <a:srgbClr val="38BDF8"/>
                </a:solidFill>
                <a:latin typeface="Segoe UI"/>
              </a:defRPr>
            </a:pPr>
            <a:r>
              <a:t>SECTION 6.1 TECHNICAL DELIVERABLES</a:t>
            </a:r>
          </a:p>
          <a:p>
            <a:pPr>
              <a:spcAft>
                <a:spcPts val="600"/>
              </a:spcAft>
              <a:defRPr sz="1050" b="1">
                <a:solidFill>
                  <a:srgbClr val="10B981"/>
                </a:solidFill>
                <a:latin typeface="Segoe UI"/>
              </a:defRPr>
            </a:pPr>
            <a:r>
              <a:t>• GitHub Repository Link: </a:t>
            </a:r>
            <a:r>
              <a:rPr b="0" sz="1000">
                <a:solidFill>
                  <a:srgbClr val="E2E8F0"/>
                </a:solidFill>
              </a:rPr>
              <a:t>Clean commit history, TypeScript 5, zero secrets exposed in client bundles.</a:t>
            </a:r>
          </a:p>
          <a:p>
            <a:pPr>
              <a:spcAft>
                <a:spcPts val="600"/>
              </a:spcAft>
              <a:defRPr sz="1050" b="1">
                <a:solidFill>
                  <a:srgbClr val="10B981"/>
                </a:solidFill>
                <a:latin typeface="Segoe UI"/>
              </a:defRPr>
            </a:pPr>
            <a:r>
              <a:t>• Full Source Code: </a:t>
            </a:r>
            <a:r>
              <a:rPr b="0" sz="1000">
                <a:solidFill>
                  <a:srgbClr val="E2E8F0"/>
                </a:solidFill>
              </a:rPr>
              <a:t>Strict separation of concerns (app/, components/, lib/, supabase/, tests/).</a:t>
            </a:r>
          </a:p>
          <a:p>
            <a:pPr>
              <a:spcAft>
                <a:spcPts val="600"/>
              </a:spcAft>
              <a:defRPr sz="1050" b="1">
                <a:solidFill>
                  <a:srgbClr val="10B981"/>
                </a:solidFill>
                <a:latin typeface="Segoe UI"/>
              </a:defRPr>
            </a:pPr>
            <a:r>
              <a:t>• Architecture Diagram: </a:t>
            </a:r>
            <a:r>
              <a:rPr b="0" sz="1000">
                <a:solidFill>
                  <a:srgbClr val="E2E8F0"/>
                </a:solidFill>
              </a:rPr>
              <a:t>Complete data flow documented in docs/ARCHITECTURE.md and pitch deck.</a:t>
            </a:r>
          </a:p>
          <a:p>
            <a:pPr>
              <a:spcAft>
                <a:spcPts val="600"/>
              </a:spcAft>
              <a:defRPr sz="1050" b="1">
                <a:solidFill>
                  <a:srgbClr val="10B981"/>
                </a:solidFill>
                <a:latin typeface="Segoe UI"/>
              </a:defRPr>
            </a:pPr>
            <a:r>
              <a:t>• Live Deployment URL: </a:t>
            </a:r>
            <a:r>
              <a:rPr b="0" sz="1000">
                <a:solidFill>
                  <a:srgbClr val="E2E8F0"/>
                </a:solidFill>
              </a:rPr>
              <a:t>Hosted on Vercel Edge: https://citypulse-iota-bice.vercel.app</a:t>
            </a:r>
          </a:p>
          <a:p>
            <a:pPr>
              <a:spcAft>
                <a:spcPts val="600"/>
              </a:spcAft>
              <a:defRPr sz="1050" b="1">
                <a:solidFill>
                  <a:srgbClr val="10B981"/>
                </a:solidFill>
                <a:latin typeface="Segoe UI"/>
              </a:defRPr>
            </a:pPr>
            <a:r>
              <a:t>• README &amp; Spec Documentation: </a:t>
            </a:r>
            <a:r>
              <a:rPr b="0" sz="1000">
                <a:solidFill>
                  <a:srgbClr val="E2E8F0"/>
                </a:solidFill>
              </a:rPr>
              <a:t>Exhaustive project specification, data contracts, and release verification notes.</a:t>
            </a:r>
          </a:p>
          <a:p>
            <a:pPr>
              <a:spcAft>
                <a:spcPts val="600"/>
              </a:spcAft>
              <a:defRPr sz="1050" b="1">
                <a:solidFill>
                  <a:srgbClr val="10B981"/>
                </a:solidFill>
                <a:latin typeface="Segoe UI"/>
              </a:defRPr>
            </a:pPr>
            <a:r>
              <a:t>• Testing &amp; Quality Validation: </a:t>
            </a:r>
            <a:r>
              <a:rPr b="0" sz="1000">
                <a:solidFill>
                  <a:srgbClr val="E2E8F0"/>
                </a:solidFill>
              </a:rPr>
              <a:t>npm test, npm run lint, and npm run test:integration passing with 0 errors.</a:t>
            </a:r>
          </a:p>
        </p:txBody>
      </p:sp>
      <p:sp>
        <p:nvSpPr>
          <p:cNvPr id="6" name="Rounded Rectangle 5"/>
          <p:cNvSpPr/>
          <p:nvPr/>
        </p:nvSpPr>
        <p:spPr>
          <a:xfrm>
            <a:off x="6272784" y="1783080"/>
            <a:ext cx="5184648" cy="4572000"/>
          </a:xfrm>
          <a:prstGeom prst="roundRect">
            <a:avLst/>
          </a:prstGeom>
          <a:solidFill>
            <a:srgbClr val="131B2A"/>
          </a:solidFill>
          <a:ln w="19050">
            <a:solidFill>
              <a:srgbClr val="26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1384" y="1920240"/>
            <a:ext cx="4727448" cy="4297680"/>
          </a:xfrm>
          <a:prstGeom prst="rect">
            <a:avLst/>
          </a:prstGeom>
          <a:noFill/>
        </p:spPr>
        <p:txBody>
          <a:bodyPr wrap="square">
            <a:spAutoFit/>
          </a:bodyPr>
          <a:lstStyle/>
          <a:p>
            <a:pPr>
              <a:spcAft>
                <a:spcPts val="1000"/>
              </a:spcAft>
              <a:defRPr sz="1100" b="1">
                <a:solidFill>
                  <a:srgbClr val="F59E0B"/>
                </a:solidFill>
                <a:latin typeface="Segoe UI"/>
              </a:defRPr>
            </a:pPr>
            <a:r>
              <a:t>3-MINUTE Q&amp;A: JUDGE DEFENSE STRATEGY</a:t>
            </a:r>
          </a:p>
          <a:p>
            <a:pPr>
              <a:spcAft>
                <a:spcPts val="600"/>
              </a:spcAft>
              <a:defRPr sz="1050" b="1">
                <a:solidFill>
                  <a:srgbClr val="38BDF8"/>
                </a:solidFill>
                <a:latin typeface="Segoe UI"/>
              </a:defRPr>
            </a:pPr>
            <a:r>
              <a:t>Q: How do you prevent AI hallucinations or false panic?</a:t>
            </a:r>
            <a:br/>
            <a:r>
              <a:rPr b="0" sz="950">
                <a:solidFill>
                  <a:srgbClr val="E2E8F0"/>
                </a:solidFill>
              </a:rPr>
              <a:t>A: We constrain Groq exclusively to verified facts already computed by our deterministic pipeline. If Groq is unavailable, deterministic template briefs take over seamlessly. Furthermore, our Correlation Safety Rule strictly prohibits causal claims.</a:t>
            </a:r>
          </a:p>
          <a:p>
            <a:pPr>
              <a:spcAft>
                <a:spcPts val="600"/>
              </a:spcAft>
              <a:defRPr sz="1050" b="1">
                <a:solidFill>
                  <a:srgbClr val="38BDF8"/>
                </a:solidFill>
                <a:latin typeface="Segoe UI"/>
              </a:defRPr>
            </a:pPr>
            <a:r>
              <a:t>Q: What happens if Open-Meteo or another feed crashes?</a:t>
            </a:r>
            <a:br/>
            <a:r>
              <a:rPr b="0" sz="950">
                <a:solidFill>
                  <a:srgbClr val="E2E8F0"/>
                </a:solidFill>
              </a:rPr>
              <a:t>A: Zero dashboard failure. The pipeline isolates the broken feed, marks its UI badge as 'Unavailable', and maintains real-time cross-correlation across all surviving data sources.</a:t>
            </a:r>
          </a:p>
          <a:p>
            <a:pPr>
              <a:spcAft>
                <a:spcPts val="600"/>
              </a:spcAft>
              <a:defRPr sz="1050" b="1">
                <a:solidFill>
                  <a:srgbClr val="38BDF8"/>
                </a:solidFill>
                <a:latin typeface="Segoe UI"/>
              </a:defRPr>
            </a:pPr>
            <a:r>
              <a:t>Q: Why not just use Google Maps or an existing weather app?</a:t>
            </a:r>
            <a:br/>
            <a:r>
              <a:rPr b="0" sz="950">
                <a:solidFill>
                  <a:srgbClr val="E2E8F0"/>
                </a:solidFill>
              </a:rPr>
              <a:t>A: Google Maps shows traffic; weather apps show rain. Neither performs rolling-window statistical anomaly cross-analysis or links multi-source civic events by location and time for resident clarity.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